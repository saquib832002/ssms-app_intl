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E2D5E"/>
          </a:solidFill>
          <a:ln w="12700">
            <a:solidFill>
              <a:srgbClr val="1E2D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200400"/>
            <a:ext cx="2286000" cy="22860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1645920"/>
            <a:ext cx="1645920" cy="1645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16459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MY ACADEMY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Walkthrough &amp; Setup Instructions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·  Dashboard  ·  Students  ·  Attendance  ·  Fees  ·  Timetable  ·  Events  · 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managemyacademy.com  ·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99032"/>
            <a:ext cx="27432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3444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99032"/>
            <a:ext cx="2743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51960" y="161848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83280" y="2258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23444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99032"/>
            <a:ext cx="27432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161848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2258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0" y="123444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23444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399032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04120" y="161848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35440" y="2258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0175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1752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182112"/>
            <a:ext cx="274320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25880" y="340156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57200" y="40416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0175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01752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3182112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340156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3383280" y="40416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 Setup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0175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01752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3182112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78040" y="340156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🧾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6309360" y="40416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44000" y="30175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0" y="301752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0" y="3182112"/>
            <a:ext cx="2743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0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04120" y="340156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🗓️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9235440" y="40416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8006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80060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965192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37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325880" y="518464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457200" y="58247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Holidays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91840" y="48006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91840" y="480060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91840" y="4965192"/>
            <a:ext cx="27432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3383280" y="4837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51960" y="518464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64" name="Text 62"/>
          <p:cNvSpPr/>
          <p:nvPr/>
        </p:nvSpPr>
        <p:spPr>
          <a:xfrm>
            <a:off x="3383280" y="58247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06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80060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4965192"/>
            <a:ext cx="27432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8" name="Text 66"/>
          <p:cNvSpPr/>
          <p:nvPr/>
        </p:nvSpPr>
        <p:spPr>
          <a:xfrm>
            <a:off x="6309360" y="4837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178040" y="518464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6309360" y="58247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144000" y="48006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00" y="480060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0" y="4965192"/>
            <a:ext cx="274320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4" name="Text 72"/>
          <p:cNvSpPr/>
          <p:nvPr/>
        </p:nvSpPr>
        <p:spPr>
          <a:xfrm>
            <a:off x="9235440" y="4837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104120" y="518464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76" name="Text 74"/>
          <p:cNvSpPr/>
          <p:nvPr/>
        </p:nvSpPr>
        <p:spPr>
          <a:xfrm>
            <a:off x="9235440" y="58247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Contact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Login &amp; Getting Started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 your Manage My Academy account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Manage My Academy from your device — Google Play, App Store, or browser.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Username and Password provided by your institution admin.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Login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"Login". You will be directed to your Dashboard on success.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794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"Forgot Password?" on the login screen to reset via your registered email.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Institution?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937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"Register here for your institution account" to start a free 1-year trial.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5623560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715000"/>
            <a:ext cx="623620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Student / Parent? Tap "Student / Parent? Register here" at the bottom of the login screen to create a parent-side account.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78240" y="157276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955280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2523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continue...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73568" y="2779776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973568" y="2916936"/>
            <a:ext cx="224942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28432" y="29352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owner_twf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973568" y="3200400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7973568" y="3337560"/>
            <a:ext cx="224942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28432" y="33558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973568" y="352044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973568" y="3767328"/>
            <a:ext cx="22494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973568" y="37673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63840" y="4206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your institution account →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863840" y="4434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Parent? Register here →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Dashboard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school at a glance after logging 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gives an instant snapshot of your institution: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Staff 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1773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totals for enrolled students, teachers, branches, and active classes.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1444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536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71416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71416" y="1773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showing today's Present vs Absent % across all classes.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9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42416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to Add Student, Mark Attendance, and View Timetable in one tap.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2587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679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71416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71416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events and holidays with days-remaining countdown badges.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22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42416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Summary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" y="4059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campuses and their student/teacher ratios.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373075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822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471416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71416" y="4059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due alerts, enrollment requests, and admin messages.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230368"/>
            <a:ext cx="6675120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5321808"/>
            <a:ext cx="6419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Owner/Admin  — full access to all modules.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Teacher/User — Dashboard view + Attendance marking + Fee Collection.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7" name="Shape 35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63840" y="1490472"/>
            <a:ext cx="2468880" cy="2377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1490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Foundation School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918704" y="1810512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18704" y="1810512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010144" y="1837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010144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034272" y="1810512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34272" y="181051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9125712" y="1837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125712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7918704" y="2377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18704" y="23774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010144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010144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9034272" y="2377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34272" y="237744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9125712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125712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138160" y="301752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1" name="Shape 59"/>
          <p:cNvSpPr/>
          <p:nvPr/>
        </p:nvSpPr>
        <p:spPr>
          <a:xfrm>
            <a:off x="8266176" y="3017520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9034272" y="310896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Present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034272" y="33284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Absent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936992" y="3767328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918704" y="3995928"/>
            <a:ext cx="740664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18704" y="399592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8714232" y="3995928"/>
            <a:ext cx="740664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14232" y="399592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9509760" y="3995928"/>
            <a:ext cx="740664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09760" y="399592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7936992" y="4389120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Upcoming Events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63840" y="4617720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36992" y="47091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8174736" y="4636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Day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174736" y="48188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days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Student Registration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students to the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School  →  Registration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 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School tab in bottom navigation, then select Registration.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Personal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First Name, Last Name, Date of Birth, Gender, Mobile Number.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 &amp; Branch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Class, Section, Branch, and Academic Session from dropdowns.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(Optional)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343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new photo or pick one from the gallery for the student ID.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9377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937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937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212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"Register Student". Status shows as Pending until formally enrolled.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870448"/>
            <a:ext cx="64922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961888"/>
            <a:ext cx="6236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After registration the student appears in the Enrollment screen with status "Pending". Complete enrollment to activate their account.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Register Student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153619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 *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955280" y="1673352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0144" y="169164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55280" y="201168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 *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955280" y="214884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0144" y="216712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955280" y="24871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*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7955280" y="2624328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10144" y="264261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7955280" y="3099816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0144" y="311810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2010-05-15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55280" y="343814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7955280" y="3575304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10144" y="35935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 ▾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955280" y="391363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*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7955280" y="4050792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0144" y="406908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 ▾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955280" y="438912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*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7955280" y="45262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10144" y="454456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  ▾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973568" y="4892040"/>
            <a:ext cx="22494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7973568" y="4892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Student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Student Enrollment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enroll registered students into their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School  →  Enrollment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Enrollment — all students with status "Pending" are listed 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student to open their enrollment form.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 &amp; 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Class, Section, Branch, and Academic Session.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Roll Number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auto-assigns the next roll number. You can override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Enrollment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"Enroll Student". Status changes: Pending  →  Enrolled.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687568"/>
            <a:ext cx="6492240" cy="621792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79008"/>
            <a:ext cx="6236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Only Owner and Admin roles can enroll students. Teacher/User role is view-only on this screen.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Enrollment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(3)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863840" y="1783080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36992" y="18836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8193024" y="18196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Sharma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93024" y="200253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9 · Pending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863840" y="2221992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36992" y="23225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193024" y="2258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Patel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93024" y="2441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 · Pending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863840" y="2660904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36992" y="276148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193024" y="2697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Khan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93024" y="28803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· Pending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863840" y="3099816"/>
            <a:ext cx="24688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7955280" y="3182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(1,248)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863840" y="3410712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36992" y="3511296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5" name="Text 53"/>
          <p:cNvSpPr/>
          <p:nvPr/>
        </p:nvSpPr>
        <p:spPr>
          <a:xfrm>
            <a:off x="8193024" y="3447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Begum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193024" y="36301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8-A · Roll 01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863840" y="3849624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36992" y="395020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193024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Ali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193024" y="40690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8-A · Roll 02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863840" y="4288536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36992" y="438912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193024" y="4325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Malik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193024" y="45079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8-B · Roll 01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863840" y="4727448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36992" y="482803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7" name="Text 65"/>
          <p:cNvSpPr/>
          <p:nvPr/>
        </p:nvSpPr>
        <p:spPr>
          <a:xfrm>
            <a:off x="8193024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 Hussain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193024" y="49469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8-B · Roll 02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Attendance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and track daily student attendance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School  →  Attendance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Filters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Class, Section, Branch, and Session from the dropdowns.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attendance date. Today is pre-selected by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 / Absent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each student's P/A button to toggle their attendance status.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Attendance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"Save Attendance". All changes are recorded immediately.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6492240" cy="1115568"/>
          </a:xfrm>
          <a:prstGeom prst="roundRect">
            <a:avLst>
              <a:gd name="adj" fmla="val 655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983480"/>
            <a:ext cx="6236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Admins can edit attendance for past dates; Teachers can only mark today.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Attendance % auto-updates in the Dashboard pie chart after saving.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Absent students are highlighted in red for easy scanning.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Attendance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36992" y="153619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64424" y="155448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 ▾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125712" y="153619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53144" y="155448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 ▾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936992" y="1828800"/>
            <a:ext cx="2322576" cy="237744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18470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04 Aug 2026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863840" y="2139696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8704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119872" y="219456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Ali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012680" y="223113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0012680" y="2231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63840" y="2615184"/>
            <a:ext cx="24688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1870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119872" y="26700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Begum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012680" y="27066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10012680" y="27066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63840" y="3090672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18704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119872" y="31455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Khan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012680" y="318211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10012680" y="31821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863840" y="3566160"/>
            <a:ext cx="24688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18704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8119872" y="362102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Malik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012680" y="365760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10012680" y="36576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863840" y="4041648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8704" y="4169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119872" y="40965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Hassan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12680" y="413308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6A34A"/>
          </a:solidFill>
          <a:ln/>
        </p:spPr>
      </p:sp>
      <p:sp>
        <p:nvSpPr>
          <p:cNvPr id="64" name="Text 62"/>
          <p:cNvSpPr/>
          <p:nvPr/>
        </p:nvSpPr>
        <p:spPr>
          <a:xfrm>
            <a:off x="10012680" y="41330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863840" y="4517136"/>
            <a:ext cx="24688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18704" y="4645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119872" y="457200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Patel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012680" y="46085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F4444"/>
          </a:solidFill>
          <a:ln/>
        </p:spPr>
      </p:sp>
      <p:sp>
        <p:nvSpPr>
          <p:cNvPr id="69" name="Text 67"/>
          <p:cNvSpPr/>
          <p:nvPr/>
        </p:nvSpPr>
        <p:spPr>
          <a:xfrm>
            <a:off x="10012680" y="46085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955280" y="502920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71" name="Text 69"/>
          <p:cNvSpPr/>
          <p:nvPr/>
        </p:nvSpPr>
        <p:spPr>
          <a:xfrm>
            <a:off x="7955280" y="5029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Attendance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Fee Structure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fee items and map them to each class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Setup  →  Fee Items  /  Fee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— Create Fee Items (master list)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Fee Items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→  Fee Items. This is your global list of all fee types.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786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Fee Item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+ Add. Enter Name (e.g. Tuition Fee), Category, and default Amount.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649224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930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— Assign to Classes (fee structure)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Fee 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09651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→  Fee Structure. This maps fee items to specific classes.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 &amp; Branch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Class, Branch, and Academic Session.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541324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5413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413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Fee Items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6875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fee items with amounts for that class. Tap Save to apply.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4" name="Shape 32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Fee Items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75520" y="1243584"/>
            <a:ext cx="384048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124358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27848" y="1572768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1609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001000" y="1828800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1828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9784080" y="16093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27848" y="2130552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2167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Fee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001000" y="2386584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01000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9784080" y="2167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27848" y="2688336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27249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Fee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001000" y="2944368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29443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9784080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927848" y="3246120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01000" y="3282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Fee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001000" y="3502152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01000" y="35021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9784080" y="328269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27848" y="3803904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01000" y="3840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Fee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001000" y="4059936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01000" y="40599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9784080" y="38404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27848" y="4361688"/>
            <a:ext cx="2340864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01000" y="43982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001000" y="4617720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01000" y="46177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9784080" y="43982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Fee Collection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fees and generate receipts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School  →  Fee Collection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Student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student name, enrollment ID, or mobile number.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Due Fees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fee items are listed with amounts and due dates.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Fee Items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items being paid. You can collect one or multiple fees together.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Payment Details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amount, payment mode (Cash / Online / Cheque), and optional remarks.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Receipt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"Collect Fee". A receipt is created and can be emailed to parents.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687568"/>
            <a:ext cx="6492240" cy="621792"/>
          </a:xfrm>
          <a:prstGeom prst="roundRect">
            <a:avLst>
              <a:gd name="adj" fmla="val 11765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79008"/>
            <a:ext cx="6236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Need to print a full fee statement? Go to Reports  →  Demand Slip to generate a per-student dues summary for any session.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Fee Collection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36992" y="1536192"/>
            <a:ext cx="2322576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91856" y="15544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student...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927848" y="1847088"/>
            <a:ext cx="2340864" cy="658368"/>
          </a:xfrm>
          <a:prstGeom prst="roundRect">
            <a:avLst>
              <a:gd name="adj" fmla="val 9722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0144" y="1911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10144" y="21031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ETWF-2024-0012  ·  Class 8-A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010144" y="2286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Due: ₹3,300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863840" y="2587752"/>
            <a:ext cx="24688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36992" y="27157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93024" y="2660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829800" y="26426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63840" y="3081528"/>
            <a:ext cx="24688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36992" y="32095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36992" y="3209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93024" y="3154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Fee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829800" y="3136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63840" y="3575304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36992" y="3703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93024" y="3648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Fee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829800" y="36301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55280" y="4992624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7955280" y="49926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₹3,000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Timetable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periods and assign subjects to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Setup  →  Timetable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Period Slots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Setup  →  Periods. Define time slots (e.g. Period 1: 8:00–8:45 AM).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Timetable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→  Timetable. Select Class, Section, and Branch.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Subjects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Day × Period cell, assign the Subject and responsible Teacher.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Save. The timetable is immediately visible to all users.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6492240" cy="1115568"/>
          </a:xfrm>
          <a:prstGeom prst="roundRect">
            <a:avLst>
              <a:gd name="adj" fmla="val 65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983480"/>
            <a:ext cx="6236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Teacher View  —  Each teacher sees their own schedule under Home  →  My Schedule, showing only the classes assigned to them.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Student / Parent View  —  Students can view their class timetable from the app after logging in.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Timetable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27848" y="1536192"/>
            <a:ext cx="2340864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82712" y="1554480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— Section A  ▾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927848" y="1828800"/>
            <a:ext cx="468173" cy="237744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1828800"/>
            <a:ext cx="4681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96021" y="1828800"/>
            <a:ext cx="468173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6021" y="1828800"/>
            <a:ext cx="4681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864194" y="1828800"/>
            <a:ext cx="468173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4194" y="1828800"/>
            <a:ext cx="4681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332366" y="1828800"/>
            <a:ext cx="468173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32366" y="1828800"/>
            <a:ext cx="4681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800539" y="1828800"/>
            <a:ext cx="468173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00539" y="1828800"/>
            <a:ext cx="4681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863840" y="2130552"/>
            <a:ext cx="246888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216712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8:00–8:45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927848" y="23500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863840" y="2606040"/>
            <a:ext cx="2468880" cy="438912"/>
          </a:xfrm>
          <a:prstGeom prst="rect">
            <a:avLst/>
          </a:prstGeom>
          <a:solidFill>
            <a:srgbClr val="FCE7F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27848" y="264261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8:45–9:30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927848" y="282549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863840" y="3081528"/>
            <a:ext cx="2468880" cy="43891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27848" y="31181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9:30–10:15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927848" y="33009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863840" y="3557016"/>
            <a:ext cx="2468880" cy="438912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27848" y="359359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10:15–10:30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927848" y="37764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863840" y="4032504"/>
            <a:ext cx="2468880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40690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10:30–11:15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927848" y="425196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63840" y="4507992"/>
            <a:ext cx="2468880" cy="438912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27848" y="45445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11:15–12:00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927848" y="472744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63840" y="4983480"/>
            <a:ext cx="24688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27848" y="502005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12:00–12:45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7927848" y="52029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Craft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Events &amp; Holidays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school calendar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Dashboard  →  Upcoming Events  →  + icon  (or Setup  →  Events)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+ icon in the "Upcoming Events" section on the Dashboard.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Event 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 (sports, exam, cultural…) or Holiday (national, religious).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Title, Date, Category, Color code, and optional Description.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"All Branches" to show the event across every campus.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Save. The event appears on all users' Dashboards immediately.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687568"/>
            <a:ext cx="6492240" cy="621792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79008"/>
            <a:ext cx="6236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Admins/Owners can Add, Edit, and Delete events. Teachers and Students can only view them.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Events &amp; Holidays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985248" y="124358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9985248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18704" y="1600200"/>
            <a:ext cx="2359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91856" y="17922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8266176" y="163677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Day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66176" y="18379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 2026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266176" y="2002536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8266176" y="200253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9692640" y="2002536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47" name="Text 45"/>
          <p:cNvSpPr/>
          <p:nvPr/>
        </p:nvSpPr>
        <p:spPr>
          <a:xfrm>
            <a:off x="9692640" y="2002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days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7918704" y="2258568"/>
            <a:ext cx="2359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91856" y="245059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266176" y="22951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Day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66176" y="24963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Aug 2026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266176" y="2660904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8266176" y="26609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9692640" y="2660904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55" name="Text 53"/>
          <p:cNvSpPr/>
          <p:nvPr/>
        </p:nvSpPr>
        <p:spPr>
          <a:xfrm>
            <a:off x="9692640" y="266090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11 days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918704" y="2916936"/>
            <a:ext cx="2359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91856" y="310896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8266176" y="29535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66176" y="315468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 2026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266176" y="3319272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61" name="Text 59"/>
          <p:cNvSpPr/>
          <p:nvPr/>
        </p:nvSpPr>
        <p:spPr>
          <a:xfrm>
            <a:off x="8266176" y="33192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9692640" y="3319272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63" name="Text 61"/>
          <p:cNvSpPr/>
          <p:nvPr/>
        </p:nvSpPr>
        <p:spPr>
          <a:xfrm>
            <a:off x="9692640" y="33192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 days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7918704" y="3575304"/>
            <a:ext cx="2359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91856" y="376732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8266176" y="36118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Milad-un-Nabi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66176" y="38130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 2026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66176" y="3977640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EDE9FE"/>
          </a:solidFill>
          <a:ln/>
        </p:spPr>
      </p:sp>
      <p:sp>
        <p:nvSpPr>
          <p:cNvPr id="69" name="Text 67"/>
          <p:cNvSpPr/>
          <p:nvPr/>
        </p:nvSpPr>
        <p:spPr>
          <a:xfrm>
            <a:off x="8266176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9692640" y="3977640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71" name="Text 69"/>
          <p:cNvSpPr/>
          <p:nvPr/>
        </p:nvSpPr>
        <p:spPr>
          <a:xfrm>
            <a:off x="9692640" y="397764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32 days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918704" y="4233672"/>
            <a:ext cx="2359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91856" y="44256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4" name="Text 72"/>
          <p:cNvSpPr/>
          <p:nvPr/>
        </p:nvSpPr>
        <p:spPr>
          <a:xfrm>
            <a:off x="8266176" y="42702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Cultural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266176" y="447141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Oct 2026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66176" y="4636008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</p:sp>
      <p:sp>
        <p:nvSpPr>
          <p:cNvPr id="77" name="Text 75"/>
          <p:cNvSpPr/>
          <p:nvPr/>
        </p:nvSpPr>
        <p:spPr>
          <a:xfrm>
            <a:off x="8266176" y="46360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9692640" y="4636008"/>
            <a:ext cx="530352" cy="146304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79" name="Text 77"/>
          <p:cNvSpPr/>
          <p:nvPr/>
        </p:nvSpPr>
        <p:spPr>
          <a:xfrm>
            <a:off x="9692640" y="463600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67 days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Student Profile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search, and edit student details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 Bottom Tabs  →  School  →  Students  →  Tap a 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 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School  →  Students. Use the search bar to find by name, mobile, or ID.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row to open their full profile.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personal info, parent/guardian details, address, class, and enrollment status.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Edit / Modify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blue "Edit / Modify" button to enable editable fields.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&amp; Save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any field — name, mobile, DOB, etc. — then tap "Save Changes".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687568"/>
            <a:ext cx="6492240" cy="621792"/>
          </a:xfrm>
          <a:prstGeom prst="roundRect">
            <a:avLst>
              <a:gd name="adj" fmla="val 11765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79008"/>
            <a:ext cx="6236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Class/Section shown on the profile comes from enrollment data. To move a student to another class, use the Enrollment screen.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91440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822960"/>
            <a:ext cx="2651760" cy="4892040"/>
          </a:xfrm>
          <a:prstGeom prst="roundRect">
            <a:avLst>
              <a:gd name="adj" fmla="val 7586"/>
            </a:avLst>
          </a:prstGeom>
          <a:solidFill>
            <a:srgbClr val="1E293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024128"/>
            <a:ext cx="2468880" cy="44897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3688" y="88696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42248" y="5605272"/>
            <a:ext cx="512064" cy="64008"/>
          </a:xfrm>
          <a:prstGeom prst="roundRect">
            <a:avLst>
              <a:gd name="adj" fmla="val 42857"/>
            </a:avLst>
          </a:prstGeom>
          <a:solidFill>
            <a:srgbClr val="47556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024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 ●●●     🔋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11887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 Profile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14232" y="1572768"/>
            <a:ext cx="768096" cy="768096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14232" y="157276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863840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2651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ETWF-2024-0012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955280" y="290779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7955280" y="3035808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0144" y="3054096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955280" y="331012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7955280" y="3438144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10144" y="3456432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955280" y="371246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7955280" y="3840480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3858768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955280" y="411480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7955280" y="4242816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10144" y="4261104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2010-05-15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955280" y="451713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7955280" y="4645152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10144" y="4663440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8 - Section 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955280" y="491947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Name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7955280" y="5047488"/>
            <a:ext cx="228600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0144" y="5065776"/>
            <a:ext cx="21762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Hamid Ali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955280" y="5376672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7955280" y="5376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Modify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User Roles &amp; Permissions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can access and 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152144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424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0424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0424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10424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Teacher/User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0" y="1042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408176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447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444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0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824228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608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8608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18608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18608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18608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240280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2768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2768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276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2276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2276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656332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6929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Past Dates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26929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Edit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6929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Edit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26929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0" y="26929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072384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108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Today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Mark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488436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5250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Items &amp; Structure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35250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35250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35250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058400" y="35250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904488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94106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17720" y="39410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39410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0" y="39410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0" y="3941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320540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3571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Setup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17720" y="43571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43571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0" y="43571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058400" y="43571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7731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View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1772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0080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22960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View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058400" y="4773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View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5152644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51892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Add / Edit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617720" y="51892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0" y="51892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229600" y="51892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058400" y="51892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5568696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" y="56052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View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617720" y="5605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400800" y="5605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29600" y="5605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View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058400" y="5605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View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040" y="5984748"/>
            <a:ext cx="115214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60213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Edit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617720" y="60213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00800" y="60213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229600" y="60213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058400" y="60213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20040" y="6400800"/>
            <a:ext cx="11521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64373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617720" y="64373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400800" y="6437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229600" y="6437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0058400" y="6437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E2D5E"/>
          </a:solidFill>
          <a:ln w="12700">
            <a:solidFill>
              <a:srgbClr val="1E2D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200400"/>
            <a:ext cx="2286000" cy="22860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here every step of the way.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28803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29900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29968" y="2935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29968" y="32095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managemyacademy.com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374904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385876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9968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29968" y="407822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admin@managemyacademy.com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4617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464" y="472744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29968" y="4672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49469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+91 98011 98648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5486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26464" y="559612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29968" y="5541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29968" y="581558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 &amp;  App Store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Manage My Academy  ·  Free 1-Year Trial Available  ·  managemyacademy.com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2026-08-04T17:38:11Z</dcterms:created>
  <dcterms:modified xsi:type="dcterms:W3CDTF">2026-08-04T17:38:11Z</dcterms:modified>
</cp:coreProperties>
</file>